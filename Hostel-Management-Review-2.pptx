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Raleway" pitchFamily="2" charset="0"/>
      <p:regular r:id="rId14"/>
    </p:embeddedFont>
    <p:embeddedFont>
      <p:font typeface="Raleway Light" pitchFamily="2" charset="0"/>
      <p:regular r:id="rId15"/>
    </p:embeddedFont>
    <p:embeddedFont>
      <p:font typeface="Roboto" panose="02000000000000000000" pitchFamily="2" charset="0"/>
      <p:regular r:id="rId16"/>
    </p:embeddedFont>
    <p:embeddedFont>
      <p:font typeface="Robot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107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474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Hostel Management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7031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Implementation of a Concurrency-Safe, Normalized Hostel Management System using PostgreSQL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08299"/>
            <a:ext cx="1119039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570533" y="2145506"/>
            <a:ext cx="142741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REVIEW –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96119" y="2436391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855" y="2565127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Akshay Chandra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855" y="2833390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436391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723" y="2565127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Manoj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723" y="2833390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284562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855" y="3413299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Pranith Reddy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855" y="3681561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3987" y="3284562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2723" y="3413299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Sai Charan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723" y="3681561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50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&amp;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081088"/>
            <a:ext cx="4103191" cy="3554909"/>
          </a:xfrm>
          <a:prstGeom prst="roundRect">
            <a:avLst>
              <a:gd name="adj" fmla="val 251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205061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304" y="1544538"/>
            <a:ext cx="186035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822" y="1538436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hostel allocation causes paperwork, human errors and delays.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304" y="2189485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822" y="2183383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existing academic HMS implementations focus mainly on basic CRUD operations.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304" y="2834432"/>
            <a:ext cx="186035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3822" y="2828330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Room/bed allocation can face conflicts when multiple users access the system simultaneously.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304" y="3479378"/>
            <a:ext cx="186035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3822" y="3473276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design and transaction safety are often insufficiently addressed.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4728046" y="1205061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1544538"/>
            <a:ext cx="186035" cy="1860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31073" y="1538436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student registration, room allocation, payments and maintenance.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2189485"/>
            <a:ext cx="186035" cy="18603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31073" y="2183383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normalized 3NF relational schema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PostgreSQL.</a:t>
            </a:r>
            <a:endParaRPr lang="en-US" sz="9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2815754"/>
            <a:ext cx="186035" cy="18603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31073" y="2809652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transaction-safe room allocation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prevent double-booking.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3460700"/>
            <a:ext cx="186035" cy="18603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31073" y="3454598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PostgreSQL constraints and transaction mechanisms for data integrity.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4105647"/>
            <a:ext cx="186035" cy="18603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31073" y="4099545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 the gap between basic academic HMS implementations and more robust booking-system designs.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336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08931"/>
            <a:ext cx="1159743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0533" y="1246138"/>
            <a:ext cx="146811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SOURCES REVIEWED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53702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literature was grouped into three major categories: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875011"/>
            <a:ext cx="2634555" cy="1861096"/>
          </a:xfrm>
          <a:prstGeom prst="roundRect">
            <a:avLst>
              <a:gd name="adj" fmla="val 279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380" y="2013272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Academic Hostel Management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380" y="2475384"/>
            <a:ext cx="2358033" cy="682154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PHP/MySQL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VB/MS Access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Web-based HMS implementations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4648" y="1875011"/>
            <a:ext cx="2634630" cy="1861096"/>
          </a:xfrm>
          <a:prstGeom prst="roundRect">
            <a:avLst>
              <a:gd name="adj" fmla="val 279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909" y="2013272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Allocation Algorithm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92909" y="2281535"/>
            <a:ext cx="2358107" cy="682154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Roommate compatibility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Personality-based allocation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allocation logic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1875011"/>
            <a:ext cx="2634555" cy="1861096"/>
          </a:xfrm>
          <a:prstGeom prst="roundRect">
            <a:avLst>
              <a:gd name="adj" fmla="val 279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1513" y="2013272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Booking &amp; Database-System 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1513" y="2475384"/>
            <a:ext cx="2358033" cy="1122462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booking systems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transactions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Concurrency and double-booking prevention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booking schemas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875633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E1E1EA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055418"/>
            <a:ext cx="155004" cy="12397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9071" y="4030563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Overall Observation: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Existing research addresses hostel management, allocation logic and database integrity, but these areas are often studied separately.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919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Review: Academic HMS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36303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Major Findings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16187"/>
            <a:ext cx="4013895" cy="9850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1654448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HOMASY — LASU Case Study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530" y="1922711"/>
            <a:ext cx="3680222" cy="440308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PHP + MySQL + MVC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room allocation and record keeping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987" y="1516187"/>
            <a:ext cx="4013895" cy="9850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29398" y="1654448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Mufulira College HMS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29398" y="1922711"/>
            <a:ext cx="3680222" cy="440308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paperwork and manual-process problems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PHP/MySQL MVC solution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25254"/>
            <a:ext cx="4013895" cy="9850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1530" y="2763515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VB + MS Access HMS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91530" y="3031778"/>
            <a:ext cx="3680222" cy="440308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and access-control mechanisms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usability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987" y="2625254"/>
            <a:ext cx="4013895" cy="9850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29398" y="2763515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College of Agriculture Lafia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29398" y="3031778"/>
            <a:ext cx="3680222" cy="440308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interviews and secondary research for requirements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PHP/MySQL HMS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3749873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FCF2B5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3929658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071" y="3904804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Common Limitation: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Most implementations focus on </a:t>
            </a: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functional CRUD operations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with limited discussion of </a:t>
            </a: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3NF normalization, transaction isolation and concurrency safety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577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Recent &amp; Allocation Research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8333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Recent Academic Work — IRJMETS 2025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84945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82079" y="1516707"/>
            <a:ext cx="37386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/ React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031429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682079" y="1963192"/>
            <a:ext cx="37386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 / MongoDB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2477914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82079" y="2409676"/>
            <a:ext cx="37386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Science methodology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924398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82079" y="2856161"/>
            <a:ext cx="37386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Administrator interviews + resident surveys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370883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82079" y="3302645"/>
            <a:ext cx="37386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Covers authentication, allocation, payments and maintenance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119" y="3640634"/>
            <a:ext cx="3924598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Strength: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More rigorous methodology and broader functionality.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Database design remains relatively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schema-agnostic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rather than focusing deeply on relational design and PostgreSQL-specific integrity mechanisms.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8749" y="1059359"/>
            <a:ext cx="4103191" cy="3598366"/>
          </a:xfrm>
          <a:prstGeom prst="roundRect">
            <a:avLst>
              <a:gd name="adj" fmla="val 248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62723" y="1183332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Allocation Research — PHAS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723" y="1501155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Personality-Based Hostel Allocation System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62723" y="1907381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4948684" y="1839144"/>
            <a:ext cx="36692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personality/temperament information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62723" y="2353866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4948684" y="2285628"/>
            <a:ext cx="36692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Attempts to improve roommate compatibility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62723" y="2800350"/>
            <a:ext cx="61987" cy="61987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4948684" y="2732112"/>
            <a:ext cx="36692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Goes beyond first-come-first-served allocation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62723" y="3070101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Limitation: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Focuses on allocation logic rather than database-level transaction safety.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460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&amp; Industry Booking Research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81708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Lessons from Booking-System Research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61592"/>
            <a:ext cx="2634555" cy="1803276"/>
          </a:xfrm>
          <a:prstGeom prst="roundRect">
            <a:avLst>
              <a:gd name="adj" fmla="val 288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1790328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Normalized Booking Schema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058591"/>
            <a:ext cx="2377083" cy="1079078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Separates entities into normalized tables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junction tables for complex relationships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duplication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1661592"/>
            <a:ext cx="2634630" cy="1803276"/>
          </a:xfrm>
          <a:prstGeom prst="roundRect">
            <a:avLst>
              <a:gd name="adj" fmla="val 288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384" y="1790328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PostgreSQL Booking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2058591"/>
            <a:ext cx="2377157" cy="1277541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PostgreSQL for strong transactional/ACID guarantees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row-level locking before confirming reservations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Addresses concurrent booking conflicts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1661592"/>
            <a:ext cx="2634555" cy="1803276"/>
          </a:xfrm>
          <a:prstGeom prst="roundRect">
            <a:avLst>
              <a:gd name="adj" fmla="val 288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1988" y="1790328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Transactional Allocation Systems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2058591"/>
            <a:ext cx="2377083" cy="1035695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transactions can prevent race conditions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Concurrency control is essential when multiple users compete for the same resource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604394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E1E1E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84178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759324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Hostel room allocation has the same fundamental </a:t>
            </a: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availability + reservation + concurrency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problem found in hotel and booking systems.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38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Analysis &amp;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05495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Literature Shows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485379"/>
            <a:ext cx="8151763" cy="2174230"/>
          </a:xfrm>
          <a:prstGeom prst="roundRect">
            <a:avLst>
              <a:gd name="adj" fmla="val 239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49338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1091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72494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934072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295650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4929" y="1569318"/>
            <a:ext cx="18376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Area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53332" y="156931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Existing Research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10212" y="156931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4929" y="1930896"/>
            <a:ext cx="18376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Hostel Management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53332" y="1930896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Registration, rooms, payments, maintenance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10212" y="1930896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CRUD-focused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929" y="2292474"/>
            <a:ext cx="18376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53332" y="2292474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Compatibility/automated allocation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10212" y="2292474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safety often not addressed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929" y="2654052"/>
            <a:ext cx="18376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Design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53332" y="2654052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Normalization and relational schemas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10212" y="2654052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Rarely applied deeply to academic HMS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929" y="3015630"/>
            <a:ext cx="18376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Systems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53332" y="301563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Transactions, locking, ACID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10212" y="301563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Usually hotel/general booking domain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4929" y="3377208"/>
            <a:ext cx="18376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53332" y="337720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integrity/concurrency mechanisms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10212" y="3377208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Underutilized in academic HMS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2154" y="3938662"/>
            <a:ext cx="7965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Synthesis: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Existing studies provide useful solutions to individual problems, but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hostel functionality, allocation intelligence and database-level concurrency are not consistently integrated into one design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6119" y="3799136"/>
            <a:ext cx="14288" cy="675977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82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Gaps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42392"/>
            <a:ext cx="4013895" cy="1785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0048" y="112402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4380" y="1552724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Concurrency Safety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4380" y="1820987"/>
            <a:ext cx="3737372" cy="868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HMS literature gives limited attention to concurrent room allocation.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Risk: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Two users may attempt to allocate the same room/bed simultaneously.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987" y="1042392"/>
            <a:ext cx="4013895" cy="1785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7917" y="112402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772248" y="1552724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Normalization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72248" y="1820987"/>
            <a:ext cx="3737372" cy="669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academic implementations provide limited justification of relational schema design and normalization.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Risk: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Redundancy and update anomalies.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51485"/>
            <a:ext cx="4013895" cy="1785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10048" y="303311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34380" y="3461817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Allocation + Data Integrity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4380" y="3730079"/>
            <a:ext cx="3737372" cy="868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Allocation algorithms and database integrity are often treated as separate concerns.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Need: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Allocation logic must operate safely within database transactions.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987" y="2951485"/>
            <a:ext cx="4013895" cy="17851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47917" y="303311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772248" y="3461817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PostgreSQL Features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72248" y="3730079"/>
            <a:ext cx="373737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such as foreign-key constraints, CHECK constraints, transactions, row-level locking, SERIALIZABLE isolation, and exclusion constraints are not commonly emphasized in the academic HMS implementations reviewed.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8962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 &amp; Contribution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22511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Contribution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178719"/>
            <a:ext cx="231130" cy="231130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665" y="1197992"/>
            <a:ext cx="15403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304" y="1213991"/>
            <a:ext cx="363438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Normalized Database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304" y="1459557"/>
            <a:ext cx="363438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3NF PostgreSQL schema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for: Students, Rooms, Allocations, Payments, Wardens, Maintenance.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6119" y="1930003"/>
            <a:ext cx="231130" cy="231130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665" y="1949276"/>
            <a:ext cx="15403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304" y="1965275"/>
            <a:ext cx="363438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Concurrency-Safe Allocation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2304" y="2210842"/>
            <a:ext cx="363438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PostgreSQL transactions and appropriate locking/isolation mechanisms to prevent conflicting allocations.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6119" y="2681288"/>
            <a:ext cx="231130" cy="231130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665" y="2700561"/>
            <a:ext cx="15403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304" y="2716560"/>
            <a:ext cx="363438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Constraint-Based Integrity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2304" y="2962126"/>
            <a:ext cx="363438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keys, foreign keys, CHECK constraints, appropriate uniqueness/exclusion constraints.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6119" y="3432572"/>
            <a:ext cx="231130" cy="231130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665" y="3451845"/>
            <a:ext cx="15403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304" y="3467844"/>
            <a:ext cx="363438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Integrated HMS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2304" y="3713411"/>
            <a:ext cx="363438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Combines: </a:t>
            </a: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Student Management + Room Allocation + Payments + Maintenance + Administration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8108" y="837456"/>
            <a:ext cx="4098503" cy="3917082"/>
          </a:xfrm>
          <a:prstGeom prst="roundRect">
            <a:avLst>
              <a:gd name="adj" fmla="val 188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30800" y="922511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Contribution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0800" y="1168078"/>
            <a:ext cx="3893121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Bringing </a:t>
            </a:r>
            <a:r>
              <a:rPr lang="en-US" sz="8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database design rigor and concurrency safety</a:t>
            </a: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an academic Hostel Management System.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30800" y="1589782"/>
            <a:ext cx="3893121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30800" y="1725439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Integrated Modules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0800" y="198164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30800" y="2141934"/>
            <a:ext cx="3893121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4730800" y="2221855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Management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0800" y="253409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0800" y="2694384"/>
            <a:ext cx="3893121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4730800" y="2774305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Room Allocation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0800" y="308654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30800" y="3246834"/>
            <a:ext cx="3893121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3" name="Text 31"/>
          <p:cNvSpPr/>
          <p:nvPr/>
        </p:nvSpPr>
        <p:spPr>
          <a:xfrm>
            <a:off x="4730800" y="3326755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0800" y="363899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30800" y="3799284"/>
            <a:ext cx="3893121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6" name="Text 34"/>
          <p:cNvSpPr/>
          <p:nvPr/>
        </p:nvSpPr>
        <p:spPr>
          <a:xfrm>
            <a:off x="4730800" y="3879205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Maintenance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0800" y="419144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30800" y="4351734"/>
            <a:ext cx="3893121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9" name="Text 37"/>
          <p:cNvSpPr/>
          <p:nvPr/>
        </p:nvSpPr>
        <p:spPr>
          <a:xfrm>
            <a:off x="4730800" y="4431655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System &amp; 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12428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Modules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52" y="744141"/>
            <a:ext cx="3881735" cy="23037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7086" y="2513549"/>
            <a:ext cx="964895" cy="1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041054" y="2513549"/>
            <a:ext cx="964895" cy="1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Allocation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05195" y="2513549"/>
            <a:ext cx="964895" cy="1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96119" y="3082751"/>
            <a:ext cx="445747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modules: Maintenance Requests, Warden/Admin Management.</a:t>
            </a:r>
            <a:endParaRPr lang="en-US" sz="450" dirty="0"/>
          </a:p>
        </p:txBody>
      </p:sp>
      <p:sp>
        <p:nvSpPr>
          <p:cNvPr id="9" name="Text 6"/>
          <p:cNvSpPr/>
          <p:nvPr/>
        </p:nvSpPr>
        <p:spPr>
          <a:xfrm>
            <a:off x="496119" y="318804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Entities</a:t>
            </a:r>
            <a:endParaRPr lang="en-US" sz="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19760"/>
            <a:ext cx="310083" cy="3720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7158" y="3381747"/>
            <a:ext cx="365923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</a:t>
            </a:r>
            <a:endParaRPr lang="en-US" sz="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691830"/>
            <a:ext cx="310083" cy="3720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7158" y="3753817"/>
            <a:ext cx="365923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Allocation</a:t>
            </a:r>
            <a:endParaRPr lang="en-US" sz="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4063901"/>
            <a:ext cx="310083" cy="3720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7158" y="4125888"/>
            <a:ext cx="365923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Room</a:t>
            </a:r>
            <a:endParaRPr lang="en-US" sz="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4435971"/>
            <a:ext cx="310083" cy="3720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7158" y="4497958"/>
            <a:ext cx="365923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</a:t>
            </a:r>
            <a:endParaRPr lang="en-US" sz="600" dirty="0"/>
          </a:p>
        </p:txBody>
      </p:sp>
      <p:sp>
        <p:nvSpPr>
          <p:cNvPr id="18" name="Text 11"/>
          <p:cNvSpPr/>
          <p:nvPr/>
        </p:nvSpPr>
        <p:spPr>
          <a:xfrm>
            <a:off x="496119" y="484286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Principles</a:t>
            </a:r>
            <a:endParaRPr lang="en-US" sz="600" dirty="0"/>
          </a:p>
        </p:txBody>
      </p:sp>
      <p:sp>
        <p:nvSpPr>
          <p:cNvPr id="19" name="Text 12"/>
          <p:cNvSpPr/>
          <p:nvPr/>
        </p:nvSpPr>
        <p:spPr>
          <a:xfrm>
            <a:off x="496119" y="4970711"/>
            <a:ext cx="4000277" cy="329729"/>
          </a:xfrm>
          <a:prstGeom prst="rect">
            <a:avLst/>
          </a:prstGeom>
          <a:noFill/>
          <a:ln/>
        </p:spPr>
        <p:txBody>
          <a:bodyPr wrap="square" lIns="0" tIns="24809" rIns="0" bIns="0" rtlCol="0" anchor="t">
            <a:normAutofit/>
          </a:bodyPr>
          <a:lstStyle/>
          <a:p>
            <a:pPr marL="91440" indent="-91440" algn="l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3NF normalization</a:t>
            </a:r>
            <a:endParaRPr lang="en-US" sz="450" dirty="0"/>
          </a:p>
          <a:p>
            <a:pPr marL="91440" indent="-91440" algn="l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Referential integrity</a:t>
            </a:r>
            <a:endParaRPr lang="en-US" sz="450" dirty="0"/>
          </a:p>
          <a:p>
            <a:pPr marL="91440" indent="-91440" algn="l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Transaction-safe allocation</a:t>
            </a:r>
            <a:endParaRPr lang="en-US" sz="450" dirty="0"/>
          </a:p>
          <a:p>
            <a:pPr marL="91440" indent="-91440" algn="l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Prevention of overlapping/conflicting allocations</a:t>
            </a:r>
            <a:endParaRPr lang="en-US" sz="450" dirty="0"/>
          </a:p>
        </p:txBody>
      </p:sp>
      <p:sp>
        <p:nvSpPr>
          <p:cNvPr id="20" name="Text 13"/>
          <p:cNvSpPr/>
          <p:nvPr/>
        </p:nvSpPr>
        <p:spPr>
          <a:xfrm>
            <a:off x="4652367" y="612428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 </a:t>
            </a:r>
            <a:r>
              <a:rPr lang="en-US" sz="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Diagram</a:t>
            </a:r>
            <a:endParaRPr lang="en-US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636" y="1062707"/>
            <a:ext cx="4154008" cy="34042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0193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Scope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0989" y="888653"/>
            <a:ext cx="4101926" cy="3155007"/>
          </a:xfrm>
          <a:prstGeom prst="roundRect">
            <a:avLst>
              <a:gd name="adj" fmla="val 269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29158" y="1001316"/>
            <a:ext cx="386558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9158" y="1377776"/>
            <a:ext cx="59085" cy="5908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700906" y="1312738"/>
            <a:ext cx="3693840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Literature shows that existing HMS solutions successfully automate basic hostel operations.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9158" y="1972494"/>
            <a:ext cx="59085" cy="5908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700906" y="1907456"/>
            <a:ext cx="3693840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However, database-level </a:t>
            </a: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normalization and concurrency control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receive comparatively less attention in the academic systems reviewed.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9158" y="2751906"/>
            <a:ext cx="59085" cy="5908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700906" y="2686869"/>
            <a:ext cx="3693840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Booking-system research demonstrates the importance of transactions, locking and strong database integrity.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9158" y="3346624"/>
            <a:ext cx="59085" cy="5908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700906" y="3281586"/>
            <a:ext cx="3693840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project combines these ideas in a </a:t>
            </a: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PostgreSQL-based, normalized and concurrency-safe Hostel Management System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20977" y="1001316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11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977" y="1312738"/>
            <a:ext cx="295573" cy="2955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57341" y="1312738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Roommate Compatibility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57341" y="1610097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Personality-based allocation logic integrated at the database level.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977" y="2020119"/>
            <a:ext cx="295573" cy="2955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57341" y="2020119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Dashboard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157341" y="2317477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occupancy monitoring and reporting.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0977" y="2727499"/>
            <a:ext cx="295573" cy="2955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57341" y="2727499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Fee Reminders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157341" y="3024857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 payment notifications and reminders.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0977" y="3434879"/>
            <a:ext cx="295573" cy="2955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57341" y="3434879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157341" y="3732237"/>
            <a:ext cx="34953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Hostel analytics and predictive occupancy/demand analysis.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73447" y="4297114"/>
            <a:ext cx="7974434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Our goal is not simply to digitize hostel management, but to build a database system that remains correct and reliable even when multiple operations occur simultaneously.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96119" y="4170387"/>
            <a:ext cx="14288" cy="622846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1004</Words>
  <Application>Microsoft Office PowerPoint</Application>
  <PresentationFormat>On-screen Show (16:9)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Raleway</vt:lpstr>
      <vt:lpstr>Raleway Light</vt:lpstr>
      <vt:lpstr>Arial</vt:lpstr>
      <vt:lpstr>Roboto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AKSHAY CHANDRA</cp:lastModifiedBy>
  <cp:revision>2</cp:revision>
  <dcterms:created xsi:type="dcterms:W3CDTF">2026-08-17T14:05:31Z</dcterms:created>
  <dcterms:modified xsi:type="dcterms:W3CDTF">2026-08-17T14:07:22Z</dcterms:modified>
</cp:coreProperties>
</file>